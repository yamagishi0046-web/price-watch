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冒頭30秒でここを言い切る。
『本日は売り込みではありません。仮説段階で顧客ゼロという現在地をそのままお見せして、穴を指摘いただきたい、そしてヒアリング先をご紹介いただきたい、という2点のお願いです』
相手は現場を知っているコンサル代表。取り繕うと即座に見抜かれるので、最初に現在地を開示する姿勢を出すことが信用の入り口になる。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この1枚で全体を握る。以降のスライドは全部この3点の詳細。
「顧客ゼロ」を先に言う。後半で発覚するより、自分から最初に出した方が圧倒的に印象が良い。
相手が途中で質問を始めたら、資料を進めるより会話を優先してよい。紹介をもらうのが目的であって、資料を読み切るのが目的ではない。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顧客ゼロの状態で信用を得る唯一の材料が『すでに手を動かして動かし続けている物がある』こと。
価格ウォッチは工場向けではないが、『毎日自動でデータを取り、集計し、判定を出し、公開まで無人で回している』という点が、現場データSaaSに必要な能力とほぼ同じであることを説明する。
ここは盛らない。『これは工場の実績ではありません』と自分から言う。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ここが一番ツッコまれる場所。相手は現場を知っているので『それ、うちの顧客だとこうだよ』が必ず返ってくる。
その返しこそが今日いちばん価値のある情報。反論せず、メモを取り、『4つのうちどれが一番刺さりますか』と聞き返す。
順位を聞き出せたら大成功。それが製品の第一機能になる。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『なぜ今か』は投資家・コンサル双方が必ず確認する論点。ただし借り物の一般論だと見抜かれる。
だからこそ全部に『要検証』を貼っておく。『一般論としてはこう言われていますが、自分で確かめた数字ではありません。ここ、実感と合っていますか』と振ると会話になる。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現場DXが失敗する最大の理由は『現場が入力してくれない』こと。相手も必ずそれを言ってくる。
先回りして『入力を増やさない』を設計方針として掲げておくと、分かっている人だと伝わる。
デモが触れる状態なら、この後スマホで実物を見せるのが最も効く。無ければ『まだ画面だけです』と正直に言う。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3者のうち誰に売るかで、価格も営業導線も全部変わる。まだ決めていないことを正直に言う。
相手は製造業に強いので『この規模ならだいたい社長決裁だよ』といった実務知識が出てくる可能性が高い。それが今日の収穫のひとつ。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価格を聞かれて黙るのが最悪。仮でも数字を出し、『仮置きです』と明示するのが一番強い。
相手が『その規模なら月◯万が上限だよ』と言ってくれたら、それだけで今日は元が取れている。
『いくらなら払いますか』と客に聞いても本音は出ない、という点は相手も同意するはず。逆算アプローチを説明すると、分かっていると評価されやすい。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この資料の核心。多くの人は左側だけ見せて右側を隠す。隠すと、相手は『何を隠しているか』を探す時間に会話を使ってしまう。
先に全部出せば、残り時間を『どう埋めるか』の相談に使える。コンサル相手にはこちらが圧倒的に有利。
『販路がない』を最後に置いて、次のお願いのスライドへつなげる。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『いつまでに何を』が無い相談は、コンサルから見ると最も動きにくい。日付とゲートを必ず言う。
ゲート条件（8社／2週間／値引きなし）は自分で作った撤退基準。ここを聞かれたら『撤退基準です』と答える。
紹介のお願いは Day 1–30 に直結する、という流れで次のスライドへ。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この5問が、そのまま次のスライドの『予備調査を使うかどうか』の判断材料になる。
5問を先に見せてから『どれを自分でやり、どれを人に頼るか』を相談する流れにすると、判断の筋道が相手に見える。
相手がこの場で4・5に答えてくれるなら、予備調査は要らないかもしれない。それも含めて相談する。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重要：この場で即断しない。『持ち帰って決めます』で構わない。ただし判断基準は先に言い切る。
判断基準を示すと、相手は無理に売り込みにくくなり、かつ『考えて動く人だ』という評価になる。
聞くべきこと：①典型的なスコープと期間 ②費用のレンジ ③成果物の形（報告書か、示唆か、リスト付きか） ④その後の支援の有無と費用。
上限額は面談前に必ず自分で決めておくこと。その場で決めると必ず高い方に流れる。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紹介する側にとっての最大のリスクは『変な奴を紹介して自分の信用が落ちること』。ここを先に潰すのが最重要。
3つの約束は必ず口頭でも言う。特に『売り込みはしない』は具体的に『30分のヒアリングだけです』と時間で示す。
『まずは1社で構いません』と敷居を下げる。大きくお願いすると断られ、小さくお願いすると通る。
この場で口約束が出たら、その日のうちに紹介文のたたき台をこちらから送る（相手の手間をゼロにする）。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 として持っておき、聞かれたら開く。時間が余れば自分から開いてもよい。
『最大の競合は現状維持』は製造業では特に真実で、相手も強く同意するはず。ここで会話が弾みやすい。
最後の『自分』の行は書きにくいが、ここを書けるかどうかで本気度の伝わり方が変わる。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120640" cy="5120640"/>
          </a:xfrm>
          <a:prstGeom prst="ellipse">
            <a:avLst/>
          </a:prstGeom>
          <a:solidFill>
            <a:srgbClr val="2E4150"/>
          </a:solidFill>
          <a:ln w="12700">
            <a:solidFill>
              <a:srgbClr val="2E41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32720" y="4023360"/>
            <a:ext cx="2377440" cy="2377440"/>
          </a:xfrm>
          <a:prstGeom prst="ellipse">
            <a:avLst/>
          </a:prstGeom>
          <a:solidFill>
            <a:srgbClr val="D9722C">
              <a:alpha val="45000"/>
            </a:srgbClr>
          </a:solidFill>
          <a:ln w="12700">
            <a:solidFill>
              <a:srgbClr val="D9722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72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事業ご説明資料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8412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工場の現場データを</a:t>
            </a:r>
            <a:endParaRPr lang="en-US" sz="36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「その日のうちに」使える形にする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97764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72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【要記入：サービス名／屋号】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983480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0C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【要記入：氏名】　／　【要記入：2026年◯月◯日】　／　【要記入：御社名】 御中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394960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本日のご相談：①ヒアリング先のご紹介　②予備調査を今使うべきかの判断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972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C2B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本日お伝えすること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291840" cy="2468880"/>
          </a:xfrm>
          <a:prstGeom prst="roundRect">
            <a:avLst>
              <a:gd name="adj" fmla="val 2963"/>
            </a:avLst>
          </a:prstGeom>
          <a:solidFill>
            <a:srgbClr val="F0F3F6"/>
          </a:solidFill>
          <a:ln w="12700">
            <a:solidFill>
              <a:srgbClr val="D3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C2B3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57400"/>
            <a:ext cx="420624" cy="420624"/>
          </a:xfrm>
          <a:prstGeom prst="ellipse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1214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C2B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現在地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74320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仮説段階・顧客ゼロ。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課題仮説はあるが、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現場での検証はこれから。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783080"/>
            <a:ext cx="3291840" cy="2468880"/>
          </a:xfrm>
          <a:prstGeom prst="roundRect">
            <a:avLst>
              <a:gd name="adj" fmla="val 2963"/>
            </a:avLst>
          </a:prstGeom>
          <a:solidFill>
            <a:srgbClr val="F0F3F6"/>
          </a:solidFill>
          <a:ln w="12700">
            <a:solidFill>
              <a:srgbClr val="D3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C2B36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2057400"/>
            <a:ext cx="420624" cy="420624"/>
          </a:xfrm>
          <a:prstGeom prst="ellipse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6344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21214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C2B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やること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74320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90日で有償1社を目標に。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10社ヒアリング → 2社でPoC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1社と有償契約。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1783080"/>
            <a:ext cx="3291840" cy="2468880"/>
          </a:xfrm>
          <a:prstGeom prst="roundRect">
            <a:avLst>
              <a:gd name="adj" fmla="val 2963"/>
            </a:avLst>
          </a:prstGeom>
          <a:solidFill>
            <a:srgbClr val="F0F3F6"/>
          </a:solidFill>
          <a:ln w="12700">
            <a:solidFill>
              <a:srgbClr val="D3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C2B36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6760" y="2057400"/>
            <a:ext cx="420624" cy="420624"/>
          </a:xfrm>
          <a:prstGeom prst="ellipse">
            <a:avLst/>
          </a:prstGeom>
          <a:solidFill>
            <a:srgbClr val="D9722C"/>
          </a:solidFill>
          <a:ln w="12700">
            <a:solidFill>
              <a:srgbClr val="D9722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6676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915400" y="21214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C2B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お願い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274320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ヒアリング先のご紹介。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予備調査は「自分で聞いても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埋まらない問い」が残った時に。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57200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AEDE1"/>
          </a:solidFill>
          <a:ln w="12700">
            <a:solidFill>
              <a:srgbClr val="EBD3BC"/>
            </a:solidFill>
            <a:prstDash val="solid"/>
          </a:ln>
          <a:effectLst>
            <a:outerShdw sx="100000" sy="100000" kx="0" ky="0" algn="bl" rotWithShape="0" blurRad="101600" dist="25400" dir="5400000">
              <a:srgbClr val="1C2B36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1005840" y="484632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1C2B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本日は売り込みではなく、仮説の穴を先に潰すためのご相談です。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528523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取り繕った資料より、どこが分かっていないかを開示した資料の方が、有益なご指摘をいただけると考えました。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972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WHO I 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C2B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自己紹介と、いま実際に動かしているもの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3794760"/>
          </a:xfrm>
          <a:prstGeom prst="roundRect">
            <a:avLst>
              <a:gd name="adj" fmla="val 1928"/>
            </a:avLst>
          </a:prstGeom>
          <a:solidFill>
            <a:srgbClr val="F0F3F6"/>
          </a:solidFill>
          <a:ln w="12700">
            <a:solidFill>
              <a:srgbClr val="D3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C2B36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05740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C2B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経歴・現在の稼働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514600"/>
            <a:ext cx="4617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【要記入：現職・これまでの職種／年数】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【要記入：製造業との接点があれば（現場経験・取引先など）】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【要記入：本件に週何時間使えるか／資金の目処】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【要記入：なぜ工場向けなのか（動機。必ず聞かれます）】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783080"/>
            <a:ext cx="5257800" cy="3794760"/>
          </a:xfrm>
          <a:prstGeom prst="roundRect">
            <a:avLst>
              <a:gd name="adj" fmla="val 1928"/>
            </a:avLst>
          </a:prstGeom>
          <a:solidFill>
            <a:srgbClr val="E6F0EA"/>
          </a:solidFill>
          <a:ln w="12700">
            <a:solidFill>
              <a:srgbClr val="C9DED3"/>
            </a:solidFill>
            <a:prstDash val="solid"/>
          </a:ln>
          <a:effectLst>
            <a:outerShdw sx="100000" sy="100000" kx="0" ky="0" algn="bl" rotWithShape="0" blurRad="101600" dist="25400" dir="5400000">
              <a:srgbClr val="1C2B36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83680" y="205740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C2B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「作って、動かし続けられる」ことの実証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487168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3B7A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価格ウォッチ（個人開発・稼働中）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880360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 取得 → 集計 → 公開までを毎日無人で運用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 31カテゴリ・880商品の価格を日次で追跡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 収集した値動きから「買い時／平常／待ち」を自動判定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443484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工場向けサービスに必要なのは、派手な機能ではなく</a:t>
            </a: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「毎日データが溜まり続ける仕組みを止めずに回すこと」。</a:t>
            </a: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その実装と運用は、すでに手元で証明できています。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23620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1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事業実績ではなく「技術と継続運用の裏付け」として提示。誇張しないこと。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972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C2B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課題仮説：現場のデータが「その場」で消えている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F0F3F6"/>
          </a:solidFill>
          <a:ln w="12700">
            <a:solidFill>
              <a:srgbClr val="D3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C2B3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148840"/>
            <a:ext cx="420624" cy="420624"/>
          </a:xfrm>
          <a:prstGeom prst="ellipse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148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743200"/>
            <a:ext cx="2020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C2B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紙とホワイトボード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3429000"/>
            <a:ext cx="20208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記録は残るが、</a:t>
            </a: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集計されない。</a:t>
            </a: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書いた瞬間から</a:t>
            </a: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誰も見返さない。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529584" y="187452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F0F3F6"/>
          </a:solidFill>
          <a:ln w="12700">
            <a:solidFill>
              <a:srgbClr val="D3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C2B36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22192" y="2148840"/>
            <a:ext cx="420624" cy="420624"/>
          </a:xfrm>
          <a:prstGeom prst="ellipse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22192" y="2148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822192" y="2743200"/>
            <a:ext cx="2020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C2B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Excelへの転記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822192" y="3429000"/>
            <a:ext cx="20208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転記に時間がかかり、</a:t>
            </a: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ミスも出る。</a:t>
            </a: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触れるのは</a:t>
            </a: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担当者ひとりだけ。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19088" y="187452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F0F3F6"/>
          </a:solidFill>
          <a:ln w="12700">
            <a:solidFill>
              <a:srgbClr val="D3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C2B36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711696" y="2148840"/>
            <a:ext cx="420624" cy="420624"/>
          </a:xfrm>
          <a:prstGeom prst="ellipse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11696" y="2148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711696" y="2743200"/>
            <a:ext cx="2020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C2B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気づくのが遅い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711696" y="3429000"/>
            <a:ext cx="20208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不良・設備停止・</a:t>
            </a: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段取り遅れが分かるのは</a:t>
            </a: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月次集計が出た後。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308592" y="187452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F0F3F6"/>
          </a:solidFill>
          <a:ln w="12700">
            <a:solidFill>
              <a:srgbClr val="D3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C2B36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601200" y="2148840"/>
            <a:ext cx="420624" cy="420624"/>
          </a:xfrm>
          <a:prstGeom prst="ellipse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0" y="2148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601200" y="2743200"/>
            <a:ext cx="2020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C2B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属人化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601200" y="3429000"/>
            <a:ext cx="20208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ベテランの勘に依存し、</a:t>
            </a: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数字として</a:t>
            </a: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承継できない。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498348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AEDE1"/>
          </a:solidFill>
          <a:ln w="12700">
            <a:solidFill>
              <a:srgbClr val="EBD3BC"/>
            </a:solidFill>
            <a:prstDash val="solid"/>
          </a:ln>
          <a:effectLst>
            <a:outerShdw sx="100000" sy="100000" kx="0" ky="0" algn="bl" rotWithShape="0" blurRad="101600" dist="25400" dir="5400000">
              <a:srgbClr val="1C2B36">
                <a:alpha val="1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1005840" y="528523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1C2B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以上はすべて仮説です。ヒアリング10社で「実際に困っている順番」を確かめ、外れていれば作るものを変えます。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972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C2B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なぜ今なのか（3つの追い風・いずれも要検証）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170432"/>
          </a:xfrm>
          <a:prstGeom prst="roundRect">
            <a:avLst>
              <a:gd name="adj" fmla="val 6250"/>
            </a:avLst>
          </a:prstGeom>
          <a:solidFill>
            <a:srgbClr val="F0F3F6"/>
          </a:solidFill>
          <a:ln w="12700">
            <a:solidFill>
              <a:srgbClr val="D3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C2B3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03704"/>
            <a:ext cx="420624" cy="420624"/>
          </a:xfrm>
          <a:prstGeom prst="ellipse">
            <a:avLst/>
          </a:prstGeom>
          <a:solidFill>
            <a:srgbClr val="D9722C"/>
          </a:solidFill>
          <a:ln w="12700">
            <a:solidFill>
              <a:srgbClr val="D9722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203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04825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C2B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人手不足と技能承継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617720" y="2084832"/>
            <a:ext cx="6537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ベテランの退職で、勘に頼った管理が続けられなくなる。数字にして残す必要が出てきている。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600200" y="2487168"/>
            <a:ext cx="868680" cy="274320"/>
          </a:xfrm>
          <a:prstGeom prst="roundRect">
            <a:avLst>
              <a:gd name="adj" fmla="val 20000"/>
            </a:avLst>
          </a:prstGeom>
          <a:solidFill>
            <a:srgbClr val="FAEDE1"/>
          </a:solidFill>
          <a:ln w="12700">
            <a:solidFill>
              <a:srgbClr val="EBD3B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600200" y="248716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050" b="1" dirty="0">
                <a:solidFill>
                  <a:srgbClr val="D972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要検証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3200400"/>
            <a:ext cx="10881360" cy="1170432"/>
          </a:xfrm>
          <a:prstGeom prst="roundRect">
            <a:avLst>
              <a:gd name="adj" fmla="val 6250"/>
            </a:avLst>
          </a:prstGeom>
          <a:solidFill>
            <a:srgbClr val="F0F3F6"/>
          </a:solidFill>
          <a:ln w="12700">
            <a:solidFill>
              <a:srgbClr val="D3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C2B36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60120" y="3575304"/>
            <a:ext cx="420624" cy="420624"/>
          </a:xfrm>
          <a:prstGeom prst="ellipse">
            <a:avLst/>
          </a:prstGeom>
          <a:solidFill>
            <a:srgbClr val="D9722C"/>
          </a:solidFill>
          <a:ln w="12700">
            <a:solidFill>
              <a:srgbClr val="D9722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35753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41985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C2B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原価把握の必要性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3456432"/>
            <a:ext cx="6537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材料費・エネルギー費の変動を価格に反映するには、まず自社の実績値が要る。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600200" y="3858768"/>
            <a:ext cx="868680" cy="274320"/>
          </a:xfrm>
          <a:prstGeom prst="roundRect">
            <a:avLst>
              <a:gd name="adj" fmla="val 20000"/>
            </a:avLst>
          </a:prstGeom>
          <a:solidFill>
            <a:srgbClr val="FAEDE1"/>
          </a:solidFill>
          <a:ln w="12700">
            <a:solidFill>
              <a:srgbClr val="EBD3B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600200" y="385876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050" b="1" dirty="0">
                <a:solidFill>
                  <a:srgbClr val="D972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要検証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4572000"/>
            <a:ext cx="10881360" cy="1170432"/>
          </a:xfrm>
          <a:prstGeom prst="roundRect">
            <a:avLst>
              <a:gd name="adj" fmla="val 6250"/>
            </a:avLst>
          </a:prstGeom>
          <a:solidFill>
            <a:srgbClr val="F0F3F6"/>
          </a:solidFill>
          <a:ln w="12700">
            <a:solidFill>
              <a:srgbClr val="D3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C2B36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60120" y="4946904"/>
            <a:ext cx="420624" cy="420624"/>
          </a:xfrm>
          <a:prstGeom prst="ellipse">
            <a:avLst/>
          </a:prstGeom>
          <a:solidFill>
            <a:srgbClr val="D9722C"/>
          </a:solidFill>
          <a:ln w="12700">
            <a:solidFill>
              <a:srgbClr val="D9722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0120" y="4946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479145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C2B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導入コストの低下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617720" y="4828032"/>
            <a:ext cx="6537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スマホ・低価格センサ・クラウドで、数百万円だった仕組みが桁を落として作れる。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600200" y="5230368"/>
            <a:ext cx="868680" cy="274320"/>
          </a:xfrm>
          <a:prstGeom prst="roundRect">
            <a:avLst>
              <a:gd name="adj" fmla="val 20000"/>
            </a:avLst>
          </a:prstGeom>
          <a:solidFill>
            <a:srgbClr val="FAEDE1"/>
          </a:solidFill>
          <a:ln w="12700">
            <a:solidFill>
              <a:srgbClr val="EBD3B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600200" y="523036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050" b="1" dirty="0">
                <a:solidFill>
                  <a:srgbClr val="D972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要検証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623620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1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一般論として語られる話であり、自分で確かめた数字ではないことを明示する。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972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C2B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解決仮説：現場の作業を1秒も増やさない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246120" cy="2148840"/>
          </a:xfrm>
          <a:prstGeom prst="roundRect">
            <a:avLst>
              <a:gd name="adj" fmla="val 3404"/>
            </a:avLst>
          </a:prstGeom>
          <a:solidFill>
            <a:srgbClr val="F0F3F6"/>
          </a:solidFill>
          <a:ln w="12700">
            <a:solidFill>
              <a:srgbClr val="D3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C2B3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48840"/>
            <a:ext cx="420624" cy="420624"/>
          </a:xfrm>
          <a:prstGeom prst="ellipse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148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21284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C2B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現場で入力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83464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スマホで3タップ。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もしくは今使っている紙を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そのまま写真で撮るだけ。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995928" y="2971800"/>
            <a:ext cx="329184" cy="310896"/>
          </a:xfrm>
          <a:prstGeom prst="rightArrow">
            <a:avLst/>
          </a:prstGeom>
          <a:solidFill>
            <a:srgbClr val="D9722C"/>
          </a:solidFill>
          <a:ln w="12700">
            <a:solidFill>
              <a:srgbClr val="D9722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874520"/>
            <a:ext cx="3246120" cy="2148840"/>
          </a:xfrm>
          <a:prstGeom prst="roundRect">
            <a:avLst>
              <a:gd name="adj" fmla="val 3404"/>
            </a:avLst>
          </a:prstGeom>
          <a:solidFill>
            <a:srgbClr val="F0F3F6"/>
          </a:solidFill>
          <a:ln w="12700">
            <a:solidFill>
              <a:srgbClr val="D3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C2B36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2148840"/>
            <a:ext cx="420624" cy="420624"/>
          </a:xfrm>
          <a:prstGeom prst="ellipse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54880" y="2148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0" y="221284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C2B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自動で集計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283464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転記ゼロ。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人が Excel を触る工程を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仕組みから消す。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90688" y="2971800"/>
            <a:ext cx="329184" cy="310896"/>
          </a:xfrm>
          <a:prstGeom prst="rightArrow">
            <a:avLst/>
          </a:prstGeom>
          <a:solidFill>
            <a:srgbClr val="D9722C"/>
          </a:solidFill>
          <a:ln w="12700">
            <a:solidFill>
              <a:srgbClr val="D9722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0" y="1874520"/>
            <a:ext cx="3246120" cy="2148840"/>
          </a:xfrm>
          <a:prstGeom prst="roundRect">
            <a:avLst>
              <a:gd name="adj" fmla="val 3404"/>
            </a:avLst>
          </a:prstGeom>
          <a:solidFill>
            <a:srgbClr val="F0F3F6"/>
          </a:solidFill>
          <a:ln w="12700">
            <a:solidFill>
              <a:srgbClr val="D3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C2B36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49640" y="2148840"/>
            <a:ext cx="420624" cy="420624"/>
          </a:xfrm>
          <a:prstGeom prst="ellipse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49640" y="2148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098280" y="221284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C2B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翌朝に届く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549640" y="283464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毎朝ダッシュボード。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異常が出た時だけ通知。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平常時は何もしない。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66344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E4EAEF"/>
          </a:solidFill>
          <a:ln w="12700">
            <a:solidFill>
              <a:srgbClr val="D3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C2B36">
                <a:alpha val="1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1005840" y="489204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C2B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設計方針：現場の手間を1つでも増やしたら、その時点で使われなくなる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5321808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機能ではなく「定着」で勝負する。【要記入：現時点のプロトタイプの状態／触れるデモの有無】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972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VALUE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C2B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誰の、何が変わるのか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520440" cy="3154680"/>
          </a:xfrm>
          <a:prstGeom prst="roundRect">
            <a:avLst>
              <a:gd name="adj" fmla="val 2319"/>
            </a:avLst>
          </a:prstGeom>
          <a:solidFill>
            <a:srgbClr val="F0F3F6"/>
          </a:solidFill>
          <a:ln w="12700">
            <a:solidFill>
              <a:srgbClr val="D3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C2B36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1488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C2B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現場の作業者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60604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1C2B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転記作業がなくなる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42900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終業後の日報転記に</a:t>
            </a:r>
            <a:endParaRPr lang="en-US" sz="125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毎日◯十分かけている状態から、</a:t>
            </a:r>
            <a:endParaRPr lang="en-US" sz="125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入力その場で完了へ。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53128" y="1874520"/>
            <a:ext cx="3520440" cy="3154680"/>
          </a:xfrm>
          <a:prstGeom prst="roundRect">
            <a:avLst>
              <a:gd name="adj" fmla="val 2319"/>
            </a:avLst>
          </a:prstGeom>
          <a:solidFill>
            <a:srgbClr val="F0F3F6"/>
          </a:solidFill>
          <a:ln w="12700">
            <a:solidFill>
              <a:srgbClr val="D3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C2B36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773168" y="21488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C2B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工場長・管理者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773168" y="260604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1C2B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翌日に異常が分かる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773168" y="342900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月次集計を待たずに、</a:t>
            </a:r>
            <a:endParaRPr lang="en-US" sz="125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不良・停止・遅れを</a:t>
            </a:r>
            <a:endParaRPr lang="en-US" sz="125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翌朝の画面で把握。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66176" y="1874520"/>
            <a:ext cx="3520440" cy="3154680"/>
          </a:xfrm>
          <a:prstGeom prst="roundRect">
            <a:avLst>
              <a:gd name="adj" fmla="val 2319"/>
            </a:avLst>
          </a:prstGeom>
          <a:solidFill>
            <a:srgbClr val="FAEDE1"/>
          </a:solidFill>
          <a:ln w="12700">
            <a:solidFill>
              <a:srgbClr val="EBD3BC"/>
            </a:solidFill>
            <a:prstDash val="solid"/>
          </a:ln>
          <a:effectLst>
            <a:outerShdw sx="100000" sy="100000" kx="0" ky="0" algn="bl" rotWithShape="0" blurRad="101600" dist="25400" dir="5400000">
              <a:srgbClr val="1C2B36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586216" y="21488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D972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経営者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586216" y="260604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1C2B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原価と稼働が数字で出る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586216" y="342900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勘ではなく実績値で</a:t>
            </a:r>
            <a:endParaRPr lang="en-US" sz="125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価格交渉・設備投資の</a:t>
            </a:r>
            <a:endParaRPr lang="en-US" sz="125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判断ができる。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23620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1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決裁者が誰かはまだ確定していない（工場長／社長／情シス）。ヒアリングで確かめたい論点のひとつ。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972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C2B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ビジネスモデル仮説（数字はすべて仮置き）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F0F3F6"/>
          </a:solidFill>
          <a:ln w="12700">
            <a:solidFill>
              <a:srgbClr val="D3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C2B36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01168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C2B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課金の形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48716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900" b="1" dirty="0">
                <a:solidFill>
                  <a:srgbClr val="1C2B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初期導入　【要記入：◯◯】万円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9718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900" b="1" dirty="0">
                <a:solidFill>
                  <a:srgbClr val="D972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月額　　　【要記入：◯】万円／拠点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47472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5A71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初期で導入支援の工数を回収し、月額で継続する形を想定。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F0F3F6"/>
          </a:solidFill>
          <a:ln w="12700">
            <a:solidFill>
              <a:srgbClr val="D3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C2B36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83680" y="201168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C2B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想定顧客（ICP仮説）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468880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 従業員 【要記入：◯◯〜◯◯】名規模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 業種：【要記入：金属加工／食品／樹脂 など】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 地域：【要記入：◯◯県内・車で行ける範囲】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 生産管理システムは未導入、または一部のみ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160520"/>
            <a:ext cx="10881360" cy="1691640"/>
          </a:xfrm>
          <a:prstGeom prst="roundRect">
            <a:avLst>
              <a:gd name="adj" fmla="val 4324"/>
            </a:avLst>
          </a:prstGeom>
          <a:solidFill>
            <a:srgbClr val="FAEDE1"/>
          </a:solidFill>
          <a:ln w="12700">
            <a:solidFill>
              <a:srgbClr val="EBD3BC"/>
            </a:solidFill>
            <a:prstDash val="solid"/>
          </a:ln>
          <a:effectLst>
            <a:outerShdw sx="100000" sy="100000" kx="0" ky="0" algn="bl" rotWithShape="0" blurRad="101600" dist="25400" dir="5400000">
              <a:srgbClr val="1C2B36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1005840" y="4407408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C2B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この数字は「決めた価格」ではなく「聞きに行くための仮置き」です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4864608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ヒアリングでは「いくらなら払うか」を直接は聞かず、「今この課題に年間いくら（人件費・不良ロス）かかっているか」を聞き、</a:t>
            </a:r>
            <a:endParaRPr lang="en-US" sz="125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そこから逆算して価格を決める方針です。仮置きの数字が現場感覚とズレていれば、その場でご指摘ください。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972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STATUS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C2B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現在の状況：できていること／まだできていないこと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3657600"/>
          </a:xfrm>
          <a:prstGeom prst="roundRect">
            <a:avLst>
              <a:gd name="adj" fmla="val 2000"/>
            </a:avLst>
          </a:prstGeom>
          <a:solidFill>
            <a:srgbClr val="E6F0EA"/>
          </a:solidFill>
          <a:ln w="12700">
            <a:solidFill>
              <a:srgbClr val="C9DED3"/>
            </a:solidFill>
            <a:prstDash val="solid"/>
          </a:ln>
          <a:effectLst>
            <a:outerShdw sx="100000" sy="100000" kx="0" ky="0" algn="bl" rotWithShape="0" blurRad="101600" dist="25400" dir="5400000">
              <a:srgbClr val="1C2B36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0574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800" b="1" dirty="0">
                <a:solidFill>
                  <a:srgbClr val="3B7A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できていること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56032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 課題仮説と、解くべき順番の整理</a:t>
            </a:r>
            <a:endParaRPr lang="en-US" sz="1300" dirty="0"/>
          </a:p>
          <a:p>
            <a:pPr algn="l" indent="0" marL="0">
              <a:lnSpc>
                <a:spcPts val="2100"/>
              </a:lnSpc>
              <a:buNone/>
            </a:pPr>
            <a:endParaRPr lang="en-US" sz="13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 データ収集〜集計〜配信を無人で回す実装力</a:t>
            </a:r>
            <a:endParaRPr lang="en-US" sz="13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（価格ウォッチで日次稼働中）</a:t>
            </a:r>
            <a:endParaRPr lang="en-US" sz="1300" dirty="0"/>
          </a:p>
          <a:p>
            <a:pPr algn="l" indent="0" marL="0">
              <a:lnSpc>
                <a:spcPts val="2100"/>
              </a:lnSpc>
              <a:buNone/>
            </a:pPr>
            <a:endParaRPr lang="en-US" sz="13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 【要記入：プロトタイプ／画面のどこまでできているか】</a:t>
            </a:r>
            <a:endParaRPr lang="en-US" sz="1300" dirty="0"/>
          </a:p>
          <a:p>
            <a:pPr algn="l" indent="0" marL="0">
              <a:lnSpc>
                <a:spcPts val="2100"/>
              </a:lnSpc>
              <a:buNone/>
            </a:pPr>
            <a:endParaRPr lang="en-US" sz="13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 【要記入：これまでに話を聞けた工場の件数】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783080"/>
            <a:ext cx="5257800" cy="3657600"/>
          </a:xfrm>
          <a:prstGeom prst="roundRect">
            <a:avLst>
              <a:gd name="adj" fmla="val 2000"/>
            </a:avLst>
          </a:prstGeom>
          <a:solidFill>
            <a:srgbClr val="FAEDE1"/>
          </a:solidFill>
          <a:ln w="12700">
            <a:solidFill>
              <a:srgbClr val="EBD3BC"/>
            </a:solidFill>
            <a:prstDash val="solid"/>
          </a:ln>
          <a:effectLst>
            <a:outerShdw sx="100000" sy="100000" kx="0" ky="0" algn="bl" rotWithShape="0" blurRad="101600" dist="25400" dir="5400000">
              <a:srgbClr val="1C2B36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83680" y="20574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800" b="1" dirty="0">
                <a:solidFill>
                  <a:srgbClr val="D972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まだできていないこと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56032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 有償顧客はゼロ。売上実績なし</a:t>
            </a:r>
            <a:endParaRPr lang="en-US" sz="1300" dirty="0"/>
          </a:p>
          <a:p>
            <a:pPr algn="l" indent="0" marL="0">
              <a:lnSpc>
                <a:spcPts val="2100"/>
              </a:lnSpc>
              <a:buNone/>
            </a:pPr>
            <a:endParaRPr lang="en-US" sz="13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 現場ヒアリングが不足。課題仮説は</a:t>
            </a:r>
            <a:endParaRPr lang="en-US" sz="13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まだ自分の想像の域を出ていない</a:t>
            </a:r>
            <a:endParaRPr lang="en-US" sz="1300" dirty="0"/>
          </a:p>
          <a:p>
            <a:pPr algn="l" indent="0" marL="0">
              <a:lnSpc>
                <a:spcPts val="2100"/>
              </a:lnSpc>
              <a:buNone/>
            </a:pPr>
            <a:endParaRPr lang="en-US" sz="13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 価格の妥当性が未検証</a:t>
            </a:r>
            <a:endParaRPr lang="en-US" sz="1300" dirty="0"/>
          </a:p>
          <a:p>
            <a:pPr algn="l" indent="0" marL="0">
              <a:lnSpc>
                <a:spcPts val="2100"/>
              </a:lnSpc>
              <a:buNone/>
            </a:pPr>
            <a:endParaRPr lang="en-US" sz="13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 導入後の運用負荷（誰が面倒を見るか）が未設計</a:t>
            </a:r>
            <a:endParaRPr lang="en-US" sz="1300" dirty="0"/>
          </a:p>
          <a:p>
            <a:pPr algn="l" indent="0" marL="0">
              <a:lnSpc>
                <a:spcPts val="2100"/>
              </a:lnSpc>
              <a:buNone/>
            </a:pPr>
            <a:endParaRPr lang="en-US" sz="13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 販路がない。今日いちばんの制約はここ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623620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1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この2枚を並べて出すことが、本日の資料の主旨です。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972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PLAN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C2B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今後の方針：90日で「有償1社」に到達する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3063240"/>
          </a:xfrm>
          <a:prstGeom prst="roundRect">
            <a:avLst>
              <a:gd name="adj" fmla="val 2388"/>
            </a:avLst>
          </a:prstGeom>
          <a:solidFill>
            <a:srgbClr val="F0F3F6"/>
          </a:solidFill>
          <a:ln w="12700">
            <a:solidFill>
              <a:srgbClr val="D3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C2B36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0848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D972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Day 1–30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450592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800" b="1" dirty="0">
                <a:solidFill>
                  <a:srgbClr val="1C2B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現場ヒアリング 10社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9718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課題の順位と決裁者を特定する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60120" y="3611880"/>
            <a:ext cx="28803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3DB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97280" y="377647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ゲート：10社中8社が</a:t>
            </a:r>
            <a:endParaRPr lang="en-US" sz="11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同じ課題を挙げること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53128" y="1828800"/>
            <a:ext cx="3520440" cy="3063240"/>
          </a:xfrm>
          <a:prstGeom prst="roundRect">
            <a:avLst>
              <a:gd name="adj" fmla="val 2388"/>
            </a:avLst>
          </a:prstGeom>
          <a:solidFill>
            <a:srgbClr val="F0F3F6"/>
          </a:solidFill>
          <a:ln w="12700">
            <a:solidFill>
              <a:srgbClr val="D3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C2B36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773168" y="20848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D972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Day 31–60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773168" y="2450592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800" b="1" dirty="0">
                <a:solidFill>
                  <a:srgbClr val="1C2B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無償PoC 2社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773168" y="29718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実際に現場で使ってもらう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773168" y="3611880"/>
            <a:ext cx="28803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3DB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10328" y="377647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ゲート：2週間、</a:t>
            </a:r>
            <a:endParaRPr lang="en-US" sz="11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人に言われず使い続けること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66176" y="1828800"/>
            <a:ext cx="3520440" cy="3063240"/>
          </a:xfrm>
          <a:prstGeom prst="roundRect">
            <a:avLst>
              <a:gd name="adj" fmla="val 2388"/>
            </a:avLst>
          </a:prstGeom>
          <a:solidFill>
            <a:srgbClr val="F0F3F6"/>
          </a:solidFill>
          <a:ln w="12700">
            <a:solidFill>
              <a:srgbClr val="D3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C2B36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586216" y="20848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D972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Day 61–90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586216" y="2450592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800" b="1" dirty="0">
                <a:solidFill>
                  <a:srgbClr val="1C2B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有償契約 1社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586216" y="29718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初期＋月額で契約を結ぶ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586216" y="3611880"/>
            <a:ext cx="28803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3DB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723376" y="377647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ゲート：値引きなしで</a:t>
            </a:r>
            <a:endParaRPr lang="en-US" sz="11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発注が出ること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512064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4EAEF"/>
          </a:solidFill>
          <a:ln w="12700">
            <a:solidFill>
              <a:srgbClr val="D3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C2B36">
                <a:alpha val="1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1005840" y="533095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1C2B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各ゲートを越えられなければ、粘らずに仮説を捨てて作り直します。期限を切るのはそのためです。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972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OPEN QUESTIONS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C2B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いま埋めたい5つの問い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0F3F6"/>
          </a:solidFill>
          <a:ln w="12700">
            <a:solidFill>
              <a:srgbClr val="D3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C2B3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929384"/>
            <a:ext cx="420624" cy="420624"/>
          </a:xfrm>
          <a:prstGeom prst="ellipse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1929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2002536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1C2B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現場は本当に入力してくれるか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589520" y="202082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A71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製品設計そのものが決まる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624328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0F3F6"/>
          </a:solidFill>
          <a:ln w="12700">
            <a:solidFill>
              <a:srgbClr val="D3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C2B36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96112" y="2770632"/>
            <a:ext cx="420624" cy="420624"/>
          </a:xfrm>
          <a:prstGeom prst="ellipse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96112" y="2770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481328" y="2843784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1C2B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誰が決裁するか（工場長／社長／情シス）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589520" y="28620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A71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営業導線と資料の宛先が決まる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465576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0F3F6"/>
          </a:solidFill>
          <a:ln w="12700">
            <a:solidFill>
              <a:srgbClr val="D3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C2B36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96112" y="3611880"/>
            <a:ext cx="420624" cy="420624"/>
          </a:xfrm>
          <a:prstGeom prst="ellipse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3611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481328" y="368503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1C2B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いくらなら払うか（今その課題にいくら払っているか）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0" y="3703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A71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価格が決まる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306824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0F3F6"/>
          </a:solidFill>
          <a:ln w="12700">
            <a:solidFill>
              <a:srgbClr val="D3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C2B36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6112" y="4453128"/>
            <a:ext cx="420624" cy="420624"/>
          </a:xfrm>
          <a:prstGeom prst="ellipse">
            <a:avLst/>
          </a:prstGeom>
          <a:solidFill>
            <a:srgbClr val="D9722C"/>
          </a:solidFill>
          <a:ln w="12700">
            <a:solidFill>
              <a:srgbClr val="D9722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96112" y="4453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481328" y="45262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1C2B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既存の生産管理システムとどう共存するか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589520" y="45445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A71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作る範囲（スコープ）が決まる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5148072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0F3F6"/>
          </a:solidFill>
          <a:ln w="12700">
            <a:solidFill>
              <a:srgbClr val="D3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C2B36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96112" y="5294376"/>
            <a:ext cx="420624" cy="420624"/>
          </a:xfrm>
          <a:prstGeom prst="ellipse">
            <a:avLst/>
          </a:prstGeom>
          <a:solidFill>
            <a:srgbClr val="D9722C"/>
          </a:solidFill>
          <a:ln w="12700">
            <a:solidFill>
              <a:srgbClr val="D9722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96112" y="5294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481328" y="536752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1C2B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1社目の型は、他社にも横展開できるか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589520" y="538581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A71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事業になるかどうかが決まる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623620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1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1〜3は自分の足で埋めにいきます。4・5は業界構造の話で、独力では時間がかかると考えています。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972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DECISION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C2B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ご提案いただいた予備調査について（ご相談）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2377440"/>
          </a:xfrm>
          <a:prstGeom prst="roundRect">
            <a:avLst>
              <a:gd name="adj" fmla="val 3077"/>
            </a:avLst>
          </a:prstGeom>
          <a:solidFill>
            <a:srgbClr val="E6F0EA"/>
          </a:solidFill>
          <a:ln w="12700">
            <a:solidFill>
              <a:srgbClr val="C9DED3"/>
            </a:solidFill>
            <a:prstDash val="solid"/>
          </a:ln>
          <a:effectLst>
            <a:outerShdw sx="100000" sy="100000" kx="0" ky="0" algn="bl" rotWithShape="0" blurRad="101600" dist="25400" dir="5400000">
              <a:srgbClr val="1C2B36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01168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3B7A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自分の足で埋まると考えている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468880"/>
            <a:ext cx="4617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Q1 現場は入力してくれるか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Q2 決裁者は誰か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Q3 いくらなら払うか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10社のヒアリングで見えてくる想定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783080"/>
            <a:ext cx="5257800" cy="2377440"/>
          </a:xfrm>
          <a:prstGeom prst="roundRect">
            <a:avLst>
              <a:gd name="adj" fmla="val 3077"/>
            </a:avLst>
          </a:prstGeom>
          <a:solidFill>
            <a:srgbClr val="FAEDE1"/>
          </a:solidFill>
          <a:ln w="12700">
            <a:solidFill>
              <a:srgbClr val="EBD3BC"/>
            </a:solidFill>
            <a:prstDash val="solid"/>
          </a:ln>
          <a:effectLst>
            <a:outerShdw sx="100000" sy="100000" kx="0" ky="0" algn="bl" rotWithShape="0" blurRad="101600" dist="25400" dir="5400000">
              <a:srgbClr val="1C2B36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83680" y="201168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D972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お力をお借りしたい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468880"/>
            <a:ext cx="4617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Q4 既存システムとの共存の実態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Q5 横展開できる型があるか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（＋業界の商習慣・意思決定の流れ）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独力だと時間がかかりすぎる領域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389120"/>
            <a:ext cx="10881360" cy="1463040"/>
          </a:xfrm>
          <a:prstGeom prst="roundRect">
            <a:avLst>
              <a:gd name="adj" fmla="val 5000"/>
            </a:avLst>
          </a:prstGeom>
          <a:solidFill>
            <a:srgbClr val="E4EAEF"/>
          </a:solidFill>
          <a:ln w="12700">
            <a:solidFill>
              <a:srgbClr val="D3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C2B36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1005840" y="4590288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C2B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発注させていただく場合の判断基準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498348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「その調査結果で、自分の次の行動が変わるか」——変わらないなら、今は買わない、と決めています。</a:t>
            </a:r>
            <a:endParaRPr lang="en-US" sz="125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想定するスコープ・期間・ご予算感については、本日この場でご相談させてください。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2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972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THE ASK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本日のお願い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E4150"/>
          </a:solidFill>
          <a:ln w="12700">
            <a:solidFill>
              <a:srgbClr val="3E56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65960"/>
            <a:ext cx="420624" cy="420624"/>
          </a:xfrm>
          <a:prstGeom prst="ellipse">
            <a:avLst/>
          </a:prstGeom>
          <a:solidFill>
            <a:srgbClr val="D9722C"/>
          </a:solidFill>
          <a:ln w="12700">
            <a:solidFill>
              <a:srgbClr val="D9722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965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883664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ヒアリング先を1〜2社ご紹介ください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24028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B9C8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条件：従業員 【要記入：◯◯】名規模／【要記入：業種】／【要記入：地域】。まずは1社で構いません。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761488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E4150"/>
          </a:solidFill>
          <a:ln w="12700">
            <a:solidFill>
              <a:srgbClr val="3E566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990088"/>
            <a:ext cx="420624" cy="420624"/>
          </a:xfrm>
          <a:prstGeom prst="ellipse">
            <a:avLst/>
          </a:prstGeom>
          <a:solidFill>
            <a:srgbClr val="D9722C"/>
          </a:solidFill>
          <a:ln w="12700">
            <a:solidFill>
              <a:srgbClr val="D9722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2990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2907792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ご紹介時は「売り込みではない」と一言添えてください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326440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B9C8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「知り合いが工場の現場データの話を聞きたがっている。売り込みではなく、話を聞かせてほしいそうだ」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785616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E4150"/>
          </a:solidFill>
          <a:ln w="12700">
            <a:solidFill>
              <a:srgbClr val="3E566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014216"/>
            <a:ext cx="420624" cy="420624"/>
          </a:xfrm>
          <a:prstGeom prst="ellipse">
            <a:avLst/>
          </a:prstGeom>
          <a:solidFill>
            <a:srgbClr val="D9722C"/>
          </a:solidFill>
          <a:ln w="12700">
            <a:solidFill>
              <a:srgbClr val="D9722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4014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393192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Q4・Q5について、代表のご経験からの所感をください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288536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B9C8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既存システムとの共存の実態、横展開の型。この2点は現場を見てきた方にしか分からない領域です。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89204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D9722C"/>
          </a:solidFill>
          <a:ln w="12700">
            <a:solidFill>
              <a:srgbClr val="D9722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05840" y="507492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ご紹介いただく方に、ご迷惑をかけないためのお約束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546811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DF0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売り込みは一切しません（30分のヒアリングのみ）　② 必要ならNDAを締結します　③ 伺った内容は必ずご紹介元にも共有します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972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C2B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リスクと、まだ答えを持っていないこと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0F3F6"/>
          </a:solidFill>
          <a:ln w="12700">
            <a:solidFill>
              <a:srgbClr val="D3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C2B3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75688"/>
            <a:ext cx="960120" cy="329184"/>
          </a:xfrm>
          <a:prstGeom prst="roundRect">
            <a:avLst>
              <a:gd name="adj" fmla="val 16667"/>
            </a:avLst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07568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競合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148840" y="1984248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既存の生産管理システム、現場帳票アプリ、そしてExcel。最大の競合は「今のままで困っていない」という現状維持。差別化は 【要記入：何で差をつけるか】。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0F3F6"/>
          </a:solidFill>
          <a:ln w="12700">
            <a:solidFill>
              <a:srgbClr val="D3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C2B36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3127248"/>
            <a:ext cx="960120" cy="329184"/>
          </a:xfrm>
          <a:prstGeom prst="roundRect">
            <a:avLst>
              <a:gd name="adj" fmla="val 16667"/>
            </a:avLst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312724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技術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148840" y="3035808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工場内のネットワーク環境（オフライン運用の要否）、既存設備との接続可否。ここは実機を見ないと分からない。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8862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0F3F6"/>
          </a:solidFill>
          <a:ln w="12700">
            <a:solidFill>
              <a:srgbClr val="D3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C2B36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4178808"/>
            <a:ext cx="960120" cy="329184"/>
          </a:xfrm>
          <a:prstGeom prst="roundRect">
            <a:avLst>
              <a:gd name="adj" fmla="val 16667"/>
            </a:avLst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417880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事業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148840" y="4087368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1社目がうまくいっても、それが横展開できる型とは限らない。2社目で作り直しになる可能性を織り込んでいる。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93776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0F3F6"/>
          </a:solidFill>
          <a:ln w="12700">
            <a:solidFill>
              <a:srgbClr val="D3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C2B36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" y="5230368"/>
            <a:ext cx="960120" cy="329184"/>
          </a:xfrm>
          <a:prstGeom prst="roundRect">
            <a:avLst>
              <a:gd name="adj" fmla="val 16667"/>
            </a:avLst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523036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148840" y="5138928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E41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【要記入：使える時間／資金／体制。ひとりで続けられる期間を正直に】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23620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1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分かっていないことを分かっていると言わない。それが継続的にご協力いただくための最低条件だと考えています。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2026-09-01T22:40:28Z</dcterms:created>
  <dcterms:modified xsi:type="dcterms:W3CDTF">2026-09-01T22:40:28Z</dcterms:modified>
</cp:coreProperties>
</file>